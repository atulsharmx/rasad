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idrw.org/indian-army-floats-rfi-for-2715-logistic-drones-across-three-altitude-bands-for-last-mile-border-resupply/" TargetMode="External"/><Relationship Id="rId5" Type="http://schemas.openxmlformats.org/officeDocument/2006/relationships/hyperlink" Target="https://www.outlookindia.com/national/defence-ministry-seeks-2715-logistic-drones-to-strengthen-indian-army-supply-chain-on-china-pakistan-borders-2" TargetMode="External"/><Relationship Id="rId6" Type="http://schemas.openxmlformats.org/officeDocument/2006/relationships/hyperlink" Target="https://www.tribuneindia.com/news/nation/specialised-logistics-drone-to-deliver-supplies-in-himalayas-442161" TargetMode="External"/><Relationship Id="rId7" Type="http://schemas.openxmlformats.org/officeDocument/2006/relationships/hyperlink" Target="https://www.globalsecurity.org/wmd/library/news/india/2025/india-250810-india-pib03.htm" TargetMode="External"/><Relationship Id="rId8" Type="http://schemas.openxmlformats.org/officeDocument/2006/relationships/hyperlink" Target="https://www.theweek.in/theweek/current/2020/08/13/winter-is-coming.html" TargetMode="External"/><Relationship Id="rId9" Type="http://schemas.openxmlformats.org/officeDocument/2006/relationships/hyperlink" Target="https://www.spslandforces.com/experts-speak/?id=1339&amp;h=Logistics-Drones-and-Animal-Transport" TargetMode="External"/><Relationship Id="rId10" Type="http://schemas.openxmlformats.org/officeDocument/2006/relationships/hyperlink" Target="https://newsonair.gov.in/indian-army-launches-q-force-application-for-logistics-and-sustainment-management/" TargetMode="External"/><Relationship Id="rId11" Type="http://schemas.openxmlformats.org/officeDocument/2006/relationships/hyperlink" Target="https://www.greaterkashmir.com/kashmir/srinagar-leh-highway-zojila-pass-reopens-in-record-time/" TargetMode="External"/><Relationship Id="rId12" Type="http://schemas.openxmlformats.org/officeDocument/2006/relationships/hyperlink" Target="https://www.tribuneindia.com/news/j-k/srinagar-leh-road-reopens-after-73-days-378993" TargetMode="External"/><Relationship Id="rId13" Type="http://schemas.openxmlformats.org/officeDocument/2006/relationships/hyperlink" Target="https://theprint.in/india/strategic-srinagar-leh-national-highway-reopened-for-traffic-in-record-time/1448166/" TargetMode="External"/><Relationship Id="rId14" Type="http://schemas.openxmlformats.org/officeDocument/2006/relationships/hyperlink" Target="https://www.newsonair.gov.in/zojila-pass-nh1-srinagar-leh-highway-remains-open-during-february-for-the-first-time-ever" TargetMode="External"/><Relationship Id="rId15" Type="http://schemas.openxmlformats.org/officeDocument/2006/relationships/hyperlink" Target="https://www.newsonair.gov.in/leh-manali-national-highway-closed-for-all-vehicles-due-to-winter-conditions/" TargetMode="External"/><Relationship Id="rId16" Type="http://schemas.openxmlformats.org/officeDocument/2006/relationships/hyperlink" Target="https://www.newsonair.gov.in/bro-opened-leh-manali-national-highway-for-movement-of-army-vehicles" TargetMode="External"/><Relationship Id="rId17" Type="http://schemas.openxmlformats.org/officeDocument/2006/relationships/hyperlink" Target="https://www.himalayan-routes.com/manali-leh-highway-status-2023/" TargetMode="External"/><Relationship Id="rId18" Type="http://schemas.openxmlformats.org/officeDocument/2006/relationships/hyperlink" Target="https://open-meteo.com/en/docs/historical-weather-api" TargetMode="External"/><Relationship Id="rId19" Type="http://schemas.openxmlformats.org/officeDocument/2006/relationships/hyperlink" Target="https://open-meteo.com/en/docs/elevation-api" TargetMode="External"/><Relationship Id="rId20" Type="http://schemas.openxmlformats.org/officeDocument/2006/relationships/hyperlink" Target="https://www.openstreetmap.org/copyright" TargetMode="External"/><Relationship Id="rId21" Type="http://schemas.openxmlformats.org/officeDocument/2006/relationships/hyperlink" Target="https://thedefensepost.com/2024/12/05/indian-army-sabal-dron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868680"/>
            <a:ext cx="5394960" cy="1234440"/>
          </a:xfrm>
        </p:spPr>
        <p:txBody>
          <a:bodyPr/>
          <a:lstStyle/>
          <a:p>
            <a:pPr/>
            <a:r>
              <a:rPr lang="en-US" b="1" dirty="0" sz="340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RASAD (रसद)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/>
            <a:r>
              <a:rPr sz="2200" i="1" b="0">
                <a:solidFill>
                  <a:srgbClr val="16212B"/>
                </a:solidFill>
                <a:latin typeface="Times New Roman"/>
              </a:rPr>
              <a:t>Decide before the road shuts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4028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SIH26251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Indian Army: Predictive Logistics &amp; Forward Supply Chain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Transportation &amp; Logistics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163616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900" b="0" dirty="0">
                <a:solidFill>
                  <a:srgbClr val="1F38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ZCrew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RASAD: DECIDE BEFORE THE ROAD SHUTS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lang="en-US" dirty="0" sz="1150" b="1"/>
              <a:t>Code ZCrew</a:t>
            </a:r>
            <a:endParaRPr lang="en-IN" dirty="0"/>
          </a:p>
          <a:p>
            <a:pPr algn="ctr"/>
            <a:r>
              <a:rPr sz="1050">
                <a:solidFill>
                  <a:srgbClr val="404040"/>
                </a:solidFill>
              </a:rPr>
              <a:t>ID 163616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15568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 u="none">
                <a:solidFill>
                  <a:srgbClr val="1F3864"/>
                </a:solidFill>
                <a:latin typeface="Segoe UI Symbol"/>
              </a:rPr>
              <a:t>❖ </a:t>
            </a:r>
            <a:r>
              <a:rPr sz="2200" b="1" i="0" u="sng">
                <a:solidFill>
                  <a:srgbClr val="1F3864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783080"/>
            <a:ext cx="5486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Pentagon 15363"/>
          <p:cNvSpPr/>
          <p:nvPr/>
        </p:nvSpPr>
        <p:spPr>
          <a:xfrm>
            <a:off x="411480" y="2121408"/>
            <a:ext cx="1481328" cy="731520"/>
          </a:xfrm>
          <a:prstGeom prst="homePlate">
            <a:avLst>
              <a:gd name="adj" fmla="val 2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Forecast</a:t>
            </a:r>
          </a:p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need</a:t>
            </a:r>
          </a:p>
        </p:txBody>
      </p:sp>
      <p:sp>
        <p:nvSpPr>
          <p:cNvPr id="15365" name="Chevron 15364"/>
          <p:cNvSpPr/>
          <p:nvPr/>
        </p:nvSpPr>
        <p:spPr>
          <a:xfrm>
            <a:off x="1755648" y="2121408"/>
            <a:ext cx="1481328" cy="731520"/>
          </a:xfrm>
          <a:prstGeom prst="chevron">
            <a:avLst>
              <a:gd name="adj" fmla="val 2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Last safe</a:t>
            </a:r>
          </a:p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road day</a:t>
            </a:r>
          </a:p>
        </p:txBody>
      </p:sp>
      <p:sp>
        <p:nvSpPr>
          <p:cNvPr id="15366" name="Chevron 15365"/>
          <p:cNvSpPr/>
          <p:nvPr/>
        </p:nvSpPr>
        <p:spPr>
          <a:xfrm>
            <a:off x="3099816" y="2121408"/>
            <a:ext cx="1481328" cy="731520"/>
          </a:xfrm>
          <a:prstGeom prst="chevron">
            <a:avLst>
              <a:gd name="adj" fmla="val 28000"/>
            </a:avLst>
          </a:prstGeom>
          <a:solidFill>
            <a:srgbClr val="009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Mixed-fleet</a:t>
            </a:r>
          </a:p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5367" name="Chevron 15366"/>
          <p:cNvSpPr/>
          <p:nvPr/>
        </p:nvSpPr>
        <p:spPr>
          <a:xfrm>
            <a:off x="4443984" y="2121408"/>
            <a:ext cx="1481328" cy="731520"/>
          </a:xfrm>
          <a:prstGeom prst="chevron">
            <a:avLst>
              <a:gd name="adj" fmla="val 28000"/>
            </a:avLst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Commander</a:t>
            </a:r>
          </a:p>
          <a:p>
            <a:pPr algn="ctr"/>
            <a:r>
              <a:rPr sz="1250" b="1" i="0" u="none">
                <a:solidFill>
                  <a:srgbClr val="FFFFFF"/>
                </a:solidFill>
                <a:latin typeface="Arial"/>
              </a:rPr>
              <a:t>approves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11480" y="3035808"/>
            <a:ext cx="5486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411480" y="3346704"/>
            <a:ext cx="54864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 u="none">
                <a:solidFill>
                  <a:srgbClr val="16212B"/>
                </a:solidFill>
                <a:latin typeface="Arial"/>
              </a:rPr>
              <a:t>Joins </a:t>
            </a:r>
            <a:r>
              <a:rPr sz="1700" b="1" i="0" u="none">
                <a:solidFill>
                  <a:srgbClr val="16212B"/>
                </a:solidFill>
                <a:latin typeface="Arial"/>
              </a:rPr>
              <a:t>10 separate data streams</a:t>
            </a:r>
            <a:r>
              <a:rPr sz="1700" b="0" i="0" u="none">
                <a:solidFill>
                  <a:srgbClr val="16212B"/>
                </a:solidFill>
                <a:latin typeface="Arial"/>
              </a:rPr>
              <a:t> into one decision picture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80" y="4005072"/>
            <a:ext cx="54864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11480" y="4334256"/>
            <a:ext cx="2697480" cy="512064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384048" tIns="27432" bIns="27432"/>
          <a:lstStyle/>
          <a:p>
            <a:pPr algn="l"/>
            <a:r>
              <a:rPr sz="1400" b="1" i="0" u="none">
                <a:solidFill>
                  <a:srgbClr val="1F3864"/>
                </a:solidFill>
                <a:latin typeface="Arial"/>
              </a:rPr>
              <a:t>Closure probability window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539496" y="4498848"/>
            <a:ext cx="182880" cy="1828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3200400" y="4334256"/>
            <a:ext cx="2697480" cy="512064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384048" tIns="27432" bIns="27432"/>
          <a:lstStyle/>
          <a:p>
            <a:pPr algn="l"/>
            <a:r>
              <a:rPr sz="1400" b="1" i="0" u="none">
                <a:solidFill>
                  <a:srgbClr val="1F3864"/>
                </a:solidFill>
                <a:latin typeface="Arial"/>
              </a:rPr>
              <a:t>Drones as a real mode</a:t>
            </a:r>
          </a:p>
        </p:txBody>
      </p:sp>
      <p:sp>
        <p:nvSpPr>
          <p:cNvPr id="15374" name="Oval 15373"/>
          <p:cNvSpPr/>
          <p:nvPr/>
        </p:nvSpPr>
        <p:spPr>
          <a:xfrm>
            <a:off x="3328416" y="4498848"/>
            <a:ext cx="182880" cy="182880"/>
          </a:xfrm>
          <a:prstGeom prst="ellipse">
            <a:avLst/>
          </a:prstGeom>
          <a:solidFill>
            <a:srgbClr val="B04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411480" y="4956048"/>
            <a:ext cx="2697480" cy="512064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384048" tIns="27432" bIns="27432"/>
          <a:lstStyle/>
          <a:p>
            <a:pPr algn="l"/>
            <a:r>
              <a:rPr sz="1400" b="1" i="0" u="none">
                <a:solidFill>
                  <a:srgbClr val="1F3864"/>
                </a:solidFill>
                <a:latin typeface="Arial"/>
              </a:rPr>
              <a:t>Drone basing advisor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539496" y="5120640"/>
            <a:ext cx="182880" cy="182880"/>
          </a:xfrm>
          <a:prstGeom prst="ellipse">
            <a:avLst/>
          </a:prstGeom>
          <a:solidFill>
            <a:srgbClr val="B04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3200400" y="4956048"/>
            <a:ext cx="2697480" cy="512064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384048" tIns="27432" bIns="27432"/>
          <a:lstStyle/>
          <a:p>
            <a:pPr algn="l"/>
            <a:r>
              <a:rPr sz="1400" b="1" i="0" u="none">
                <a:solidFill>
                  <a:srgbClr val="1F3864"/>
                </a:solidFill>
                <a:latin typeface="Arial"/>
              </a:rPr>
              <a:t>Offline, on-premise</a:t>
            </a:r>
          </a:p>
        </p:txBody>
      </p:sp>
      <p:sp>
        <p:nvSpPr>
          <p:cNvPr id="15378" name="Oval 15377"/>
          <p:cNvSpPr/>
          <p:nvPr/>
        </p:nvSpPr>
        <p:spPr>
          <a:xfrm>
            <a:off x="3328416" y="5120640"/>
            <a:ext cx="182880" cy="182880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5379" name="Picture 15378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83080"/>
            <a:ext cx="5623560" cy="3161709"/>
          </a:xfrm>
          <a:prstGeom prst="rect">
            <a:avLst/>
          </a:prstGeom>
          <a:ln w="12700">
            <a:solidFill>
              <a:srgbClr val="C9D3DE"/>
            </a:solidFill>
          </a:ln>
        </p:spPr>
      </p:pic>
      <p:sp>
        <p:nvSpPr>
          <p:cNvPr id="15380" name="TextBox 15379"/>
          <p:cNvSpPr txBox="1"/>
          <p:nvPr/>
        </p:nvSpPr>
        <p:spPr>
          <a:xfrm>
            <a:off x="6172200" y="5001768"/>
            <a:ext cx="5623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 u="none">
                <a:solidFill>
                  <a:srgbClr val="1F3864"/>
                </a:solidFill>
                <a:latin typeface="Arial"/>
              </a:rPr>
              <a:t>Working prototype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· military data simulated · terrain, highways, weather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lang="en-US" dirty="0" sz="1150" b="1"/>
              <a:t>Code ZCrew</a:t>
            </a:r>
            <a:endParaRPr lang="en-IN" dirty="0"/>
          </a:p>
          <a:p>
            <a:pPr algn="ctr"/>
            <a:r>
              <a:rPr sz="1050">
                <a:solidFill>
                  <a:srgbClr val="404040"/>
                </a:solidFill>
              </a:rPr>
              <a:t>ID 163616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AI / ML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LightGBM quantile forecast (P10 / P50 / P90)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28600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Optimisation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Google OR-Tools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CP-SAT solver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0624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GIS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Leaflet map · Copernicus DEM · OpenStreetMap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Backend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Python · FastAPI · pandas · SQLite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04672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Frontend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React + TypeScript web app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966960" y="1444752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 u="none">
                <a:solidFill>
                  <a:srgbClr val="1F3864"/>
                </a:solidFill>
                <a:latin typeface="Arial"/>
              </a:rPr>
              <a:t>Hardware</a:t>
            </a:r>
          </a:p>
          <a:p>
            <a:pPr algn="ctr"/>
            <a:r>
              <a:rPr sz="1200" b="0" i="0" u="none">
                <a:solidFill>
                  <a:srgbClr val="16212B"/>
                </a:solidFill>
                <a:latin typeface="Arial"/>
              </a:rPr>
              <a:t>One on-prem laptop or server · IoT fuel sensors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2523744"/>
            <a:ext cx="11430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2852928"/>
            <a:ext cx="2560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350" b="1" i="0" u="none">
                <a:solidFill>
                  <a:srgbClr val="1F3864"/>
                </a:solidFill>
                <a:latin typeface="Arial"/>
              </a:rPr>
              <a:t>10 data streams</a:t>
            </a:r>
          </a:p>
          <a:p>
            <a:pPr algn="ctr">
              <a:spcAft>
                <a:spcPts val="300"/>
              </a:spcAft>
            </a:pPr>
            <a:r>
              <a:rPr sz="1200" b="1" i="0" u="none">
                <a:solidFill>
                  <a:srgbClr val="1D6F43"/>
                </a:solidFill>
                <a:latin typeface="Arial"/>
              </a:rPr>
              <a:t>Real: </a:t>
            </a:r>
            <a:r>
              <a:rPr sz="1200" b="0" i="0" u="none">
                <a:solidFill>
                  <a:srgbClr val="16212B"/>
                </a:solidFill>
                <a:latin typeface="Arial"/>
              </a:rPr>
              <a:t>weather since 1995, 16-day forecast, terrain (DEM), highways (OSM)</a:t>
            </a:r>
          </a:p>
          <a:p>
            <a:pPr algn="ctr">
              <a:spcAft>
                <a:spcPts val="300"/>
              </a:spcAft>
            </a:pPr>
            <a:r>
              <a:rPr sz="1200" b="1" i="0" u="none">
                <a:solidFill>
                  <a:srgbClr val="A86B00"/>
                </a:solidFill>
                <a:latin typeface="Arial"/>
              </a:rPr>
              <a:t>Simulated: </a:t>
            </a:r>
            <a:r>
              <a:rPr sz="1200" b="0" i="0" u="none">
                <a:solidFill>
                  <a:srgbClr val="16212B"/>
                </a:solidFill>
                <a:latin typeface="Arial"/>
              </a:rPr>
              <a:t>CICG-like stock &amp; issues, IoT fuel sensors, BRO roads, IAF airlift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46120" y="2852928"/>
            <a:ext cx="1691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350" b="1" i="0" u="none">
                <a:solidFill>
                  <a:srgbClr val="1F3864"/>
                </a:solidFill>
                <a:latin typeface="Arial"/>
              </a:rPr>
              <a:t>Adapters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1 config file per stream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Unknown codes refused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Health checks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257800" y="2852928"/>
            <a:ext cx="1371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350" b="1" i="0" u="none">
                <a:solidFill>
                  <a:srgbClr val="1F3864"/>
                </a:solidFill>
                <a:latin typeface="Arial"/>
              </a:rPr>
              <a:t>One database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SQLite on the unit's own machine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949440" y="2852928"/>
            <a:ext cx="27889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350" b="1" i="0" u="none">
                <a:solidFill>
                  <a:srgbClr val="1F3864"/>
                </a:solidFill>
                <a:latin typeface="Arial"/>
              </a:rPr>
              <a:t>Engines</a:t>
            </a:r>
          </a:p>
          <a:p>
            <a:pPr algn="ctr">
              <a:spcAft>
                <a:spcPts val="3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Forecast</a:t>
            </a:r>
            <a:r>
              <a:rPr sz="1200" b="0" i="0" u="none">
                <a:solidFill>
                  <a:srgbClr val="16212B"/>
                </a:solidFill>
                <a:latin typeface="Arial"/>
              </a:rPr>
              <a:t> (LightGBM) → </a:t>
            </a:r>
            <a:r>
              <a:rPr sz="1200" b="1" i="0" u="none">
                <a:solidFill>
                  <a:srgbClr val="16212B"/>
                </a:solidFill>
                <a:latin typeface="Arial"/>
              </a:rPr>
              <a:t>Point of No Return</a:t>
            </a:r>
            <a:r>
              <a:rPr sz="1200" b="0" i="0" u="none">
                <a:solidFill>
                  <a:srgbClr val="16212B"/>
                </a:solidFill>
                <a:latin typeface="Arial"/>
              </a:rPr>
              <a:t> (31 real winters) → </a:t>
            </a:r>
            <a:r>
              <a:rPr sz="1200" b="1" i="0" u="none">
                <a:solidFill>
                  <a:srgbClr val="16212B"/>
                </a:solidFill>
                <a:latin typeface="Arial"/>
              </a:rPr>
              <a:t>Mixed-fleet plan</a:t>
            </a:r>
            <a:r>
              <a:rPr sz="1200" b="0" i="0" u="none">
                <a:solidFill>
                  <a:srgbClr val="16212B"/>
                </a:solidFill>
                <a:latin typeface="Arial"/>
              </a:rPr>
              <a:t> (CP-SAT, 7 days)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+ drone advisor · what-if · data alerts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0058400" y="2852928"/>
            <a:ext cx="1783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350" b="1" i="0" u="none">
                <a:solidFill>
                  <a:srgbClr val="1F3864"/>
                </a:solidFill>
                <a:latin typeface="Arial"/>
              </a:rPr>
              <a:t>Commander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9 screens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Approve / Modify / Reject</a:t>
            </a:r>
          </a:p>
          <a:p>
            <a:pPr algn="ctr">
              <a:spcAft>
                <a:spcPts val="3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Audit log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2939796" y="3566160"/>
            <a:ext cx="292608" cy="36576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4" name="Right Arrow 17423"/>
          <p:cNvSpPr/>
          <p:nvPr/>
        </p:nvSpPr>
        <p:spPr>
          <a:xfrm>
            <a:off x="4951476" y="3566160"/>
            <a:ext cx="292608" cy="36576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5" name="Right Arrow 17424"/>
          <p:cNvSpPr/>
          <p:nvPr/>
        </p:nvSpPr>
        <p:spPr>
          <a:xfrm>
            <a:off x="6643116" y="3566160"/>
            <a:ext cx="292608" cy="36576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6" name="Right Arrow 17425"/>
          <p:cNvSpPr/>
          <p:nvPr/>
        </p:nvSpPr>
        <p:spPr>
          <a:xfrm>
            <a:off x="9752076" y="3566160"/>
            <a:ext cx="292608" cy="365760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17427" name="Picture 1742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846320"/>
            <a:ext cx="7955279" cy="1325880"/>
          </a:xfrm>
          <a:prstGeom prst="rect">
            <a:avLst/>
          </a:prstGeom>
          <a:ln w="12700">
            <a:solidFill>
              <a:srgbClr val="C9D3DE"/>
            </a:solidFill>
          </a:ln>
        </p:spPr>
      </p:pic>
      <p:sp>
        <p:nvSpPr>
          <p:cNvPr id="17428" name="TextBox 17427"/>
          <p:cNvSpPr txBox="1"/>
          <p:nvPr/>
        </p:nvSpPr>
        <p:spPr>
          <a:xfrm>
            <a:off x="8503920" y="4846320"/>
            <a:ext cx="333756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Working prototype</a:t>
            </a:r>
          </a:p>
          <a:p>
            <a:pPr algn="l">
              <a:spcAft>
                <a:spcPts val="400"/>
              </a:spcAft>
            </a:pPr>
            <a:r>
              <a:rPr sz="1200" b="0" i="0" u="none">
                <a:solidFill>
                  <a:srgbClr val="16212B"/>
                </a:solidFill>
                <a:latin typeface="Arial"/>
              </a:rPr>
              <a:t>Every plan line explains itself: route, terrain clearance, sorties and cost vs helicopter, then Approve / Modify / Reject.</a:t>
            </a:r>
          </a:p>
          <a:p>
            <a:pPr algn="l"/>
            <a:r>
              <a:rPr sz="1100" b="0" i="1" u="none">
                <a:solidFill>
                  <a:srgbClr val="555F6B"/>
                </a:solidFill>
                <a:latin typeface="Arial"/>
              </a:rPr>
              <a:t>Costs are PLACEHOLDER.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lang="en-US" dirty="0" sz="1150" b="1"/>
              <a:t>Code ZCrew</a:t>
            </a:r>
            <a:endParaRPr lang="en-IN" dirty="0"/>
          </a:p>
          <a:p>
            <a:pPr algn="ctr"/>
            <a:r>
              <a:rPr sz="1050">
                <a:solidFill>
                  <a:srgbClr val="404040"/>
                </a:solidFill>
              </a:rPr>
              <a:t>ID 163616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4206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84048" y="1545336"/>
            <a:ext cx="310896" cy="310896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2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04672" y="1517904"/>
            <a:ext cx="374903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1F3864"/>
                </a:solidFill>
                <a:latin typeface="Arial"/>
              </a:rPr>
              <a:t>Built and running: </a:t>
            </a:r>
            <a:r>
              <a:rPr sz="1350" b="0" i="0" u="none">
                <a:solidFill>
                  <a:srgbClr val="16212B"/>
                </a:solidFill>
                <a:latin typeface="Arial"/>
              </a:rPr>
              <a:t>9 screens, one-click start, guided demo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384048" y="2432303"/>
            <a:ext cx="310896" cy="310896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2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04672" y="2404872"/>
            <a:ext cx="374903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1F3864"/>
                </a:solidFill>
                <a:latin typeface="Arial"/>
              </a:rPr>
              <a:t>Works offline </a:t>
            </a:r>
            <a:r>
              <a:rPr sz="1350" b="0" i="0" u="none">
                <a:solidFill>
                  <a:srgbClr val="16212B"/>
                </a:solidFill>
                <a:latin typeface="Arial"/>
              </a:rPr>
              <a:t>on one laptop; no data leaves it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84048" y="3319271"/>
            <a:ext cx="310896" cy="310896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2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04672" y="3291839"/>
            <a:ext cx="374903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1F3864"/>
                </a:solidFill>
                <a:latin typeface="Arial"/>
              </a:rPr>
              <a:t>Free, open-source stack: </a:t>
            </a:r>
            <a:r>
              <a:rPr sz="1350" b="0" i="0" u="none">
                <a:solidFill>
                  <a:srgbClr val="16212B"/>
                </a:solidFill>
                <a:latin typeface="Arial"/>
              </a:rPr>
              <a:t>no licence or cloud cost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84048" y="4206240"/>
            <a:ext cx="310896" cy="310896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2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04672" y="4178807"/>
            <a:ext cx="374903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1F3864"/>
                </a:solidFill>
                <a:latin typeface="Arial"/>
              </a:rPr>
              <a:t>Plugs into existing systems: </a:t>
            </a:r>
            <a:r>
              <a:rPr sz="1350" b="0" i="0" u="none">
                <a:solidFill>
                  <a:srgbClr val="16212B"/>
                </a:solidFill>
                <a:latin typeface="Arial"/>
              </a:rPr>
              <a:t>reads CICG, BRO and IAF exports without changing them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84048" y="5093207"/>
            <a:ext cx="310896" cy="310896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2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04672" y="5065775"/>
            <a:ext cx="3749039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1F3864"/>
                </a:solidFill>
                <a:latin typeface="Arial"/>
              </a:rPr>
              <a:t>Stress-tested: </a:t>
            </a:r>
            <a:r>
              <a:rPr sz="1350" b="0" i="0" u="none">
                <a:solidFill>
                  <a:srgbClr val="16212B"/>
                </a:solidFill>
                <a:latin typeface="Arial"/>
              </a:rPr>
              <a:t>troops ×1.5 → posts at risk 3 → 6; pass closes 10 days early → helicopter sorties 30 → 49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800600" y="1115568"/>
            <a:ext cx="70408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 u="none">
                <a:solidFill>
                  <a:srgbClr val="1F3864"/>
                </a:solidFill>
                <a:latin typeface="Arial"/>
              </a:rPr>
              <a:t>Limitation → Mitigation</a:t>
            </a:r>
            <a:r>
              <a:rPr sz="1200" b="0" i="1" u="none">
                <a:solidFill>
                  <a:srgbClr val="555F6B"/>
                </a:solidFill>
                <a:latin typeface="Arial"/>
              </a:rPr>
              <a:t>    our honest gaps, and how we handle them</a:t>
            </a:r>
          </a:p>
        </p:txBody>
      </p:sp>
      <p:graphicFrame>
        <p:nvGraphicFramePr>
          <p:cNvPr id="17422" name="Table 17421"/>
          <p:cNvGraphicFramePr>
            <a:graphicFrameLocks noGrp="1"/>
          </p:cNvGraphicFramePr>
          <p:nvPr/>
        </p:nvGraphicFramePr>
        <p:xfrm>
          <a:off x="4800600" y="1499616"/>
          <a:ext cx="7040879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97763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Arial"/>
                        </a:rPr>
                        <a:t>Limitation (potential challenges and risks)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Arial"/>
                        </a:rPr>
                        <a:t>Mitigation (strategies for overcoming these challenges)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Military data is classified, so our stock and use data are simulated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Adapters read real CICG, BRO and IAF exports through one config file each; simulated data is labelled on every screen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Forecast accuracy is measured only on simulated data, built from the same weather inputs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The model is used only where it beats a 28-day average on held-out days; real accuracy is measured once CICG data is connected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Forward-track closure dates use PLACEHOLDER scaling of the pass rule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Pass rules are fitted on real closure dates; the unit's own track records replace the placeholders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Only 4–5 real closures per pass (error ±13 / ±18 days)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Plan at 80% confidence, not the middle date; add BRO's records as they come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The demo scenario is designed, and all costs are PLACEHOLDER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The same engine was re-run with changed inputs and responded correctly; real costs go into one parameter file</a:t>
                      </a:r>
                    </a:p>
                  </a:txBody>
                  <a:tcPr marL="73152" marR="73152" marT="36576" marB="36576" anchor="ctr">
                    <a:solidFill>
                      <a:srgbClr val="EEF3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150" b="1" i="0" u="none">
                          <a:solidFill>
                            <a:srgbClr val="B8232B"/>
                          </a:solidFill>
                          <a:latin typeface="Arial"/>
                        </a:rPr>
                        <a:t>Large sectors may hit the solver's 20-second limit; roles are demo-only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 u="none">
                          <a:solidFill>
                            <a:srgbClr val="16212B"/>
                          </a:solidFill>
                          <a:latin typeface="Arial"/>
                        </a:rPr>
                        <a:t>The screen then says "best plan found within time limit"; Army SSO/PKI supplies roles in deployment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lang="en-US" dirty="0" sz="1150" b="1"/>
              <a:t>Code ZCrew</a:t>
            </a:r>
            <a:endParaRPr lang="en-IN" dirty="0"/>
          </a:p>
          <a:p>
            <a:pPr algn="ctr"/>
            <a:r>
              <a:rPr sz="1050">
                <a:solidFill>
                  <a:srgbClr val="404040"/>
                </a:solidFill>
              </a:rPr>
              <a:t>ID 163616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4206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426464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 u="none">
                <a:solidFill>
                  <a:srgbClr val="16212B"/>
                </a:solidFill>
                <a:latin typeface="Arial"/>
              </a:rPr>
              <a:t>For </a:t>
            </a:r>
            <a:r>
              <a:rPr sz="1300" b="1" i="0" u="none">
                <a:solidFill>
                  <a:srgbClr val="16212B"/>
                </a:solidFill>
                <a:latin typeface="Arial"/>
              </a:rPr>
              <a:t>commanders, logistics staff and post quartermasters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2011680"/>
            <a:ext cx="4206240" cy="1938528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2121408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 u="none">
                <a:solidFill>
                  <a:srgbClr val="1F3864"/>
                </a:solidFill>
                <a:latin typeface="Arial"/>
              </a:rPr>
              <a:t>29 Oct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880360"/>
            <a:ext cx="38404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 i="0" u="none">
                <a:solidFill>
                  <a:srgbClr val="16212B"/>
                </a:solidFill>
                <a:latin typeface="Arial"/>
              </a:rPr>
              <a:t>Alpha's last safe road day, at 80% confidence, known before the pass closes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66928" y="3547872"/>
            <a:ext cx="3017520" cy="274320"/>
          </a:xfrm>
          <a:prstGeom prst="roundRect">
            <a:avLst>
              <a:gd name="adj" fmla="val 30000"/>
            </a:avLst>
          </a:prstGeom>
          <a:solidFill>
            <a:srgbClr val="FFE58A"/>
          </a:solidFill>
          <a:ln w="9525">
            <a:solidFill>
              <a:srgbClr val="A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 u="none">
                <a:solidFill>
                  <a:srgbClr val="16212B"/>
                </a:solidFill>
                <a:latin typeface="Arial"/>
              </a:rPr>
              <a:t>simulated · PLACEHOLDER track rules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4087368"/>
            <a:ext cx="4206240" cy="1938528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4197096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 u="none">
                <a:solidFill>
                  <a:srgbClr val="B0428F"/>
                </a:solidFill>
                <a:latin typeface="Arial"/>
              </a:rPr>
              <a:t>30 → 0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48640" y="4956048"/>
            <a:ext cx="38404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0" i="0" u="none">
                <a:solidFill>
                  <a:srgbClr val="16212B"/>
                </a:solidFill>
                <a:latin typeface="Arial"/>
              </a:rPr>
              <a:t>Foxtrot's helicopter sorties this week, with 20 drones at the advised base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66928" y="5623560"/>
            <a:ext cx="2514600" cy="274320"/>
          </a:xfrm>
          <a:prstGeom prst="roundRect">
            <a:avLst>
              <a:gd name="adj" fmla="val 30000"/>
            </a:avLst>
          </a:prstGeom>
          <a:solidFill>
            <a:srgbClr val="FFE58A"/>
          </a:solidFill>
          <a:ln w="9525">
            <a:solidFill>
              <a:srgbClr val="A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50" b="1" i="0" u="none">
                <a:solidFill>
                  <a:srgbClr val="16212B"/>
                </a:solidFill>
                <a:latin typeface="Arial"/>
              </a:rPr>
              <a:t>simulated · PLACEHOLDER costs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892040" y="1115568"/>
            <a:ext cx="6949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892040" y="1499616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2" name="Oval 17421"/>
          <p:cNvSpPr/>
          <p:nvPr/>
        </p:nvSpPr>
        <p:spPr>
          <a:xfrm>
            <a:off x="5056631" y="1682495"/>
            <a:ext cx="475488" cy="47548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⏰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669279" y="1627631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Decide before passes close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Last safe road day for every post and supply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458200" y="1499616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5" name="Oval 17424"/>
          <p:cNvSpPr/>
          <p:nvPr/>
        </p:nvSpPr>
        <p:spPr>
          <a:xfrm>
            <a:off x="8622792" y="1682495"/>
            <a:ext cx="475488" cy="475488"/>
          </a:xfrm>
          <a:prstGeom prst="ellipse">
            <a:avLst/>
          </a:prstGeom>
          <a:solidFill>
            <a:srgbClr val="B8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⛑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235440" y="1627631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Less risk to troops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Fewer risky helicopter sorties and porter / mule trips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892040" y="2980944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5056631" y="3163824"/>
            <a:ext cx="475488" cy="475488"/>
          </a:xfrm>
          <a:prstGeom prst="ellipse">
            <a:avLst/>
          </a:prstGeom>
          <a:solidFill>
            <a:srgbClr val="B04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✈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669279" y="3108960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Ready for 2,715 drones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Advises where to base them, by altitude band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458200" y="2980944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31" name="Oval 17430"/>
          <p:cNvSpPr/>
          <p:nvPr/>
        </p:nvSpPr>
        <p:spPr>
          <a:xfrm>
            <a:off x="8622792" y="3163824"/>
            <a:ext cx="475488" cy="475488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235440" y="3108960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Full accountability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Every approve, modify or reject is logged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892040" y="4462272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5056631" y="4645152"/>
            <a:ext cx="475488" cy="475488"/>
          </a:xfrm>
          <a:prstGeom prst="ellipse">
            <a:avLst/>
          </a:prstGeom>
          <a:solidFill>
            <a:srgbClr val="009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⇄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669279" y="4590288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Plugs into existing systems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Reads CICG and other exports; replaces nothing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458200" y="4462272"/>
            <a:ext cx="3383280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8622792" y="4645152"/>
            <a:ext cx="475488" cy="47548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60" b="0" i="0" u="none">
                <a:solidFill>
                  <a:srgbClr val="FFFFFF"/>
                </a:solidFill>
                <a:latin typeface="Segoe UI Symbol"/>
              </a:rPr>
              <a:t>⛰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235440" y="4590288"/>
            <a:ext cx="2514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Scales to other sectors</a:t>
            </a:r>
          </a:p>
          <a:p>
            <a:pPr algn="l"/>
            <a:r>
              <a:rPr sz="1250" b="0" i="0" u="none">
                <a:solidFill>
                  <a:srgbClr val="16212B"/>
                </a:solidFill>
                <a:latin typeface="Arial"/>
              </a:rPr>
              <a:t>Any high-altitude sector: new data, same engine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0" rIns="0"/>
          <a:lstStyle/>
          <a:p>
            <a:pPr algn="ctr"/>
            <a:r>
              <a:rPr lang="en-US" dirty="0" sz="1150" b="1"/>
              <a:t>Code ZCrew</a:t>
            </a:r>
            <a:endParaRPr lang="en-IN" dirty="0"/>
          </a:p>
          <a:p>
            <a:pPr algn="ctr"/>
            <a:r>
              <a:rPr sz="1050">
                <a:solidFill>
                  <a:srgbClr val="404040"/>
                </a:solidFill>
              </a:rPr>
              <a:t>ID 163616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15568"/>
            <a:ext cx="114300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 u="none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481328"/>
            <a:ext cx="3977639" cy="4754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Problem and policy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MoD RFI: 2,715 logistic drones, 3 altitude bands (Aug 2026)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4"/>
              </a:rPr>
              <a:t>idrw.org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5"/>
              </a:rPr>
              <a:t>Outlook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Army RFP: 363 drones, 15 kg at high altitude, 10 km range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6"/>
              </a:rPr>
              <a:t>The Tribune, 17 Oct 2022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Joint Primer for Integrated Logistics, HQ IDS (Aug 2025)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7"/>
              </a:rPr>
              <a:t>PIB via GlobalSecurity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Winter stocking: ~2 lakh t for ~6 months; cost quotes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8"/>
              </a:rPr>
              <a:t>The Week, 13 Aug 2020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Mule units retained to ~2032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9"/>
              </a:rPr>
              <a:t>SP's Land Forces, Nov 2025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Q-FORCE logistics app (May 2026)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10"/>
              </a:rPr>
              <a:t>AIR News, 22 May 2026</a:t>
            </a:r>
          </a:p>
          <a:p>
            <a:pPr algn="l"/>
            <a:r>
              <a:rPr sz="1050" b="0" i="1" u="none">
                <a:solidFill>
                  <a:srgbClr val="555F6B"/>
                </a:solidFill>
                <a:latin typeface="Arial"/>
              </a:rPr>
              <a:t>Full list with confidence levels: docs/FACTS.md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26280" y="1481328"/>
            <a:ext cx="3977639" cy="4754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Real closure dates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Zoji La closures and reopenings, 2020–25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11"/>
              </a:rPr>
              <a:t>Greater Kashmir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12"/>
              </a:rPr>
              <a:t>The Tribune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13"/>
              </a:rPr>
              <a:t>ThePrint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14"/>
              </a:rPr>
              <a:t>AIR News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Manali–Leh closures and openings, 2021–26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15"/>
              </a:rPr>
              <a:t>AIR News 2025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16"/>
              </a:rPr>
              <a:t>AIR News 2024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17"/>
              </a:rPr>
              <a:t>himalayan-routes</a:t>
            </a:r>
          </a:p>
          <a:p>
            <a:pPr algn="l">
              <a:spcAft>
                <a:spcPts val="500"/>
              </a:spcAft>
            </a:pPr>
            <a:r>
              <a:rPr sz="1400" b="1" i="0" u="none">
                <a:solidFill>
                  <a:srgbClr val="1F3864"/>
                </a:solidFill>
                <a:latin typeface="Arial"/>
              </a:rPr>
              <a:t>Open data used (real, cached offline)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Weather since 1995 and 16-day forecast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18"/>
              </a:rPr>
              <a:t>Open-Meteo ERA5 (CC BY 4.0)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Terrain heights and national highways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19"/>
              </a:rPr>
              <a:t>Copernicus DEM GLO-90</a:t>
            </a:r>
            <a:r>
              <a:rPr sz="1200" b="0" i="0" u="none">
                <a:solidFill>
                  <a:srgbClr val="555F6B"/>
                </a:solidFill>
                <a:latin typeface="Arial"/>
              </a:rPr>
              <a:t>  ·  </a:t>
            </a:r>
            <a:r>
              <a:rPr sz="1100" b="0" i="0" u="sng">
                <a:solidFill>
                  <a:srgbClr val="0070C0"/>
                </a:solidFill>
                <a:latin typeface="Arial"/>
                <a:hlinkClick r:id="rId20"/>
              </a:rPr>
              <a:t>OpenStreetMap (ODbL)</a:t>
            </a:r>
          </a:p>
          <a:p>
            <a:pPr algn="l">
              <a:spcAft>
                <a:spcPts val="100"/>
              </a:spcAft>
            </a:pPr>
            <a:r>
              <a:rPr sz="1200" b="1" i="0" u="none">
                <a:solidFill>
                  <a:srgbClr val="16212B"/>
                </a:solidFill>
                <a:latin typeface="Arial"/>
              </a:rPr>
              <a:t>Logistics drone specs: Sabal 20</a:t>
            </a:r>
          </a:p>
          <a:p>
            <a:pPr algn="l">
              <a:spcAft>
                <a:spcPts val="700"/>
              </a:spcAft>
            </a:pPr>
            <a:r>
              <a:rPr sz="1100" b="0" i="0" u="sng">
                <a:solidFill>
                  <a:srgbClr val="0070C0"/>
                </a:solidFill>
                <a:latin typeface="Arial"/>
                <a:hlinkClick r:id="rId21"/>
              </a:rPr>
              <a:t>The Defense Post, Dec 2024</a:t>
            </a:r>
          </a:p>
          <a:p>
            <a:pPr algn="l"/>
            <a:r>
              <a:rPr sz="1050" b="0" i="1" u="none">
                <a:solidFill>
                  <a:srgbClr val="555F6B"/>
                </a:solidFill>
                <a:latin typeface="Arial"/>
              </a:rPr>
              <a:t>All data is free and public; no account or key needed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732520" y="1481328"/>
            <a:ext cx="3108960" cy="46177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8915400" y="160020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 u="none">
                <a:solidFill>
                  <a:srgbClr val="1F3864"/>
                </a:solidFill>
                <a:latin typeface="Arial"/>
              </a:rPr>
              <a:t>What we verified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8915400" y="2139696"/>
            <a:ext cx="274320" cy="274320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281160" y="2103120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 u="none">
                <a:solidFill>
                  <a:srgbClr val="1F3864"/>
                </a:solidFill>
                <a:latin typeface="Arial"/>
              </a:rPr>
              <a:t>Real data: </a:t>
            </a:r>
            <a:r>
              <a:rPr sz="1250" b="0" i="0" u="none">
                <a:solidFill>
                  <a:srgbClr val="16212B"/>
                </a:solidFill>
                <a:latin typeface="Arial"/>
              </a:rPr>
              <a:t>31 winters of weather, terrain, highways and closure dates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8915400" y="3438144"/>
            <a:ext cx="274320" cy="274320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281160" y="3401568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 u="none">
                <a:solidFill>
                  <a:srgbClr val="1F3864"/>
                </a:solidFill>
                <a:latin typeface="Arial"/>
              </a:rPr>
              <a:t>Prior work: </a:t>
            </a:r>
            <a:r>
              <a:rPr sz="1250" b="0" i="0" u="none">
                <a:solidFill>
                  <a:srgbClr val="16212B"/>
                </a:solidFill>
                <a:latin typeface="Arial"/>
              </a:rPr>
              <a:t>3 public prototypes for this problem studied; none plans drones or gives a closure probability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8915400" y="4736592"/>
            <a:ext cx="274320" cy="274320"/>
          </a:xfrm>
          <a:prstGeom prst="ellipse">
            <a:avLst/>
          </a:prstGeom>
          <a:solidFill>
            <a:srgbClr val="1D6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281160" y="4700016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 u="none">
                <a:solidFill>
                  <a:srgbClr val="1F3864"/>
                </a:solidFill>
                <a:latin typeface="Arial"/>
              </a:rPr>
              <a:t>Self-check: </a:t>
            </a:r>
            <a:r>
              <a:rPr sz="1250" b="0" i="0" u="none">
                <a:solidFill>
                  <a:srgbClr val="16212B"/>
                </a:solidFill>
                <a:latin typeface="Arial"/>
              </a:rPr>
              <a:t>outputs change correctly when inputs change. Military data simulated; costs PLACEHOLDER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